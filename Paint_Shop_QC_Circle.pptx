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 Count</c:v>
                </c:pt>
              </c:strCache>
            </c:strRef>
          </c:tx>
          <c:spPr>
            <a:solidFill>
              <a:srgbClr val="3E6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5263F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Dust &amp;
Seed</c:v>
                  </c:pt>
                  <c:pt idx="1">
                    <c:v>Dirt /
Fiber</c:v>
                  </c:pt>
                  <c:pt idx="2">
                    <c:v>Crater</c:v>
                  </c:pt>
                  <c:pt idx="3">
                    <c:v>Sag /
Run</c:v>
                  </c:pt>
                  <c:pt idx="4">
                    <c:v>Orange
Peel</c:v>
                  </c:pt>
                  <c:pt idx="5">
                    <c:v>Water
Mark</c:v>
                  </c:pt>
                  <c:pt idx="6">
                    <c:v>Others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</c:v>
                </c:pt>
                <c:pt idx="1">
                  <c:v>18</c:v>
                </c:pt>
                <c:pt idx="2">
                  <c:v>12</c:v>
                </c:pt>
                <c:pt idx="3">
                  <c:v>9</c:v>
                </c:pt>
                <c:pt idx="4">
                  <c:v>7</c:v>
                </c:pt>
                <c:pt idx="5">
                  <c:v>4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5263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solidFill>
              <a:srgbClr val="D99A16"/>
            </a:solidFill>
            <a:ln w="31750" cap="flat">
              <a:solidFill>
                <a:srgbClr val="D99A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5263F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9A16"/>
              </a:solidFill>
              <a:ln w="9525" cap="flat">
                <a:solidFill>
                  <a:srgbClr val="D99A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Dust &amp;
Seed</c:v>
                  </c:pt>
                  <c:pt idx="1">
                    <c:v>Dirt /
Fiber</c:v>
                  </c:pt>
                  <c:pt idx="2">
                    <c:v>Crater</c:v>
                  </c:pt>
                  <c:pt idx="3">
                    <c:v>Sag /
Run</c:v>
                  </c:pt>
                  <c:pt idx="4">
                    <c:v>Orange
Peel</c:v>
                  </c:pt>
                  <c:pt idx="5">
                    <c:v>Water
Mark</c:v>
                  </c:pt>
                  <c:pt idx="6">
                    <c:v>Others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48</c:v>
                </c:pt>
                <c:pt idx="1">
                  <c:v>66</c:v>
                </c:pt>
                <c:pt idx="2">
                  <c:v>78</c:v>
                </c:pt>
                <c:pt idx="3">
                  <c:v>87</c:v>
                </c:pt>
                <c:pt idx="4">
                  <c:v>94</c:v>
                </c:pt>
                <c:pt idx="5">
                  <c:v>98</c:v>
                </c:pt>
                <c:pt idx="6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5263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EA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00"/>
          <c:min val="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D99A16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DPB</c:v>
                </c:pt>
              </c:strCache>
            </c:strRef>
          </c:tx>
          <c:spPr>
            <a:solidFill>
              <a:srgbClr val="C05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526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0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6F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9A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F8F5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Other plants
@ SOP</c:v>
                  </c:pt>
                  <c:pt idx="1">
                    <c:v>Our Target</c:v>
                  </c:pt>
                  <c:pt idx="2">
                    <c:v>Our Stretch</c:v>
                  </c:pt>
                  <c:pt idx="3">
                    <c:v>Achieved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10</c:v>
                </c:pt>
                <c:pt idx="2">
                  <c:v>6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526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majorGridlines>
          <c:spPr>
            <a:ln w="12700" cap="flat">
              <a:solidFill>
                <a:srgbClr val="EA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 defects/body</c:v>
                </c:pt>
              </c:strCache>
            </c:strRef>
          </c:tx>
          <c:spPr>
            <a:solidFill>
              <a:srgbClr val="3E6FA3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3E6FA3"/>
              </a:solidFill>
              <a:ln w="9525" cap="flat">
                <a:solidFill>
                  <a:srgbClr val="3E6FA3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28</c:v>
                </c:pt>
                <c:pt idx="4">
                  <c:v>33</c:v>
                </c:pt>
                <c:pt idx="5">
                  <c:v>39</c:v>
                </c:pt>
                <c:pt idx="6">
                  <c:v>45</c:v>
                </c:pt>
                <c:pt idx="7">
                  <c:v>52</c:v>
                </c:pt>
                <c:pt idx="8">
                  <c:v>58</c:v>
                </c:pt>
                <c:pt idx="9">
                  <c:v>64</c:v>
                </c:pt>
                <c:pt idx="10">
                  <c:v>70</c:v>
                </c:pt>
                <c:pt idx="11">
                  <c:v>20</c:v>
                </c:pt>
                <c:pt idx="12">
                  <c:v>30</c:v>
                </c:pt>
                <c:pt idx="13">
                  <c:v>48</c:v>
                </c:pt>
                <c:pt idx="14">
                  <c:v>60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16</c:v>
                </c:pt>
                <c:pt idx="7">
                  <c:v>20</c:v>
                </c:pt>
                <c:pt idx="8">
                  <c:v>24</c:v>
                </c:pt>
                <c:pt idx="9">
                  <c:v>28</c:v>
                </c:pt>
                <c:pt idx="10">
                  <c:v>33</c:v>
                </c:pt>
                <c:pt idx="11">
                  <c:v>6</c:v>
                </c:pt>
                <c:pt idx="12">
                  <c:v>9</c:v>
                </c:pt>
                <c:pt idx="13">
                  <c:v>18</c:v>
                </c:pt>
                <c:pt idx="14">
                  <c:v>26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AEF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E6B7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E6B78"/>
                    </a:solidFill>
                    <a:latin typeface="Arial"/>
                  </a:rPr>
                  <a:t>Airborne dust count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F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E6B7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E6B78"/>
                    </a:solidFill>
                    <a:latin typeface="Arial"/>
                  </a:rPr>
                  <a:t>Seed / body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Bodies</c:v>
                </c:pt>
              </c:strCache>
            </c:strRef>
          </c:tx>
          <c:spPr>
            <a:solidFill>
              <a:srgbClr val="D99A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526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0-3</c:v>
                  </c:pt>
                  <c:pt idx="1">
                    <c:v>4-6</c:v>
                  </c:pt>
                  <c:pt idx="2">
                    <c:v>7-9</c:v>
                  </c:pt>
                  <c:pt idx="3">
                    <c:v>10-12</c:v>
                  </c:pt>
                  <c:pt idx="4">
                    <c:v>13-15</c:v>
                  </c:pt>
                  <c:pt idx="5">
                    <c:v>16+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14</c:v>
                </c:pt>
                <c:pt idx="2">
                  <c:v>20</c:v>
                </c:pt>
                <c:pt idx="3">
                  <c:v>12</c:v>
                </c:pt>
                <c:pt idx="4">
                  <c:v>6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526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12700" cap="flat">
              <a:solidFill>
                <a:srgbClr val="EA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DPB</c:v>
                </c:pt>
              </c:strCache>
            </c:strRef>
          </c:tx>
          <c:spPr>
            <a:solidFill>
              <a:srgbClr val="C050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5263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0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8F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Other plants
@ SOP</c:v>
                  </c:pt>
                  <c:pt idx="1">
                    <c:v>Our line
@ SOP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15263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majorGridlines>
          <c:spPr>
            <a:ln w="12700" cap="flat">
              <a:solidFill>
                <a:srgbClr val="EA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DPB</c:v>
                </c:pt>
              </c:strCache>
            </c:strRef>
          </c:tx>
          <c:spPr>
            <a:solidFill>
              <a:srgbClr val="3E6FA3"/>
            </a:solidFill>
            <a:ln w="38100" cap="flat">
              <a:solidFill>
                <a:srgbClr val="3E6F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5263F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E6FA3"/>
              </a:solidFill>
              <a:ln w="9525" cap="flat">
                <a:solidFill>
                  <a:srgbClr val="3E6F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9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5263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12700" cap="flat">
              <a:solidFill>
                <a:srgbClr val="EA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circle name PAINT PERFECTORS with your actual QC circle name. Introduce the theme and the headline result: dust/seed reduced to ~6 per body against a 60-70 benchmark seen at other plants' SOP.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real circle name, members, leader, and formation date. The milestone strip tells the story: preventive actions BEFORE SOP, then SOP in mid-June, then quick stabilisation to single-digit dust.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panel quickly through the 8 QC-Story steps. Emphasise that this is a disciplined, tool-driven approach, and preview the seven QC tools shown in the banner.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'Primer application' is what was described as the coat before base coat — please confirm the exact in-plant term (primer / mid-coat). Explain that dust and seed can attach anywhere from ED to clear coat, and each one caught at inspection forces a repair, which is what hurts First Time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'vision' the user asked for. Present vision/mission/slogan as the circle's north star, then justify the theme with the 5 reasons — lead with customer impact and First Time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Charts use illustrative numbers — replace with your real defect counts. The Pareto proves Dust &amp; Seed is the 'vital few' worth attacking. Stratification shows it concentrates in Top Coat, on Shift C, upper body — pointing to environment and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target against the external benchmark: other plants hit 60-70 at SOP; we set a single-digit target and achieved 6. Replace numbers with your actual target and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6-M fishbone for dust &amp; seed. Walk each bone. Note the three heavy branches — Environment, Machine/Material (bath cleanliness) and Method/Man — which map directly to our three countermeasures.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Scatter proves dust drives seed defects (justifies environment countermeasure). Histogram shows the early distribution was wide and shifted high — an unstable process needing action. Numbers illustrative; replace with actuals.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major countermeasures the user asked to land near the end. Each attacks a root-cause cluster from the fishbone. The next three slides detail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CM-1 detail. Tie back to the scatter diagram: reducing airborne dust directly reduces seed. Add before/after photos of the netting/foil covers and taped joints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CM-2 detail. Confirm the term 'NV' (non-volatile content of the ED bath) matches your plant's wording. Highlight the maintenance-frequency changes (magnet rods, magnetic filters) as low-cost, high-impact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CM-3 detail. 'Lint-free / tack cloth' is my read of the described consumable change ('lint free and Zoombots') — confirm the exact product name. Emphasise this is the final safeguard right before and during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slide. Numbers are illustrative placeholders — drop in your real DPB, weekly trend and any target line. Mention tangible benefits (repair man-hours, material saved) and intangibles (team confidence, discipline).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Reinforcement slide showing the panel that all seven QC tools were genuinely applied and where. Good slide to pause on for a judging criterion around tool 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Standardisation = how we prevent recurrence. Stress PM frequency, control plan limits, the environment audit point, and horizontal deployment to sister plants.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reflect honestly on learnings and commit to the next cycle — this shows the panel the circle keeps improving (PDCA never stops).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End on the slogan and the headline result, then invite questions from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206240" cy="4206240"/>
          </a:xfrm>
          <a:prstGeom prst="ellipse">
            <a:avLst/>
          </a:prstGeom>
          <a:ln w="25400">
            <a:solidFill>
              <a:srgbClr val="3E6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ln w="25400">
            <a:solidFill>
              <a:srgbClr val="D99A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CIRCLE  •  QC STORY PRESENTATION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Paint Appearance by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First Time Quality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Dust &amp; Seed defects across the paint line — from a benchmark of 60–70 to single-digit defects per body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CIRCLE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5138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PAINT PERFECTORS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0624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5138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Paint Shop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952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0" y="5138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Company Quality Circle Convention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QC Circle Profile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0" cy="48463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IDENTITY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Name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51760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PERFECTORS  [edit]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34086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51760" y="23408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Formation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51760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[dd-mm-yyyy]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3649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Members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51760" y="3364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8770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Leader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51760" y="38770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Leader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51760" y="4389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9011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51760" y="49011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/ Shift Engineer]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413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Frequency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51760" y="54132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(30 min)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49240" y="1234440"/>
            <a:ext cx="62636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235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23560" y="1865376"/>
            <a:ext cx="310896" cy="310896"/>
          </a:xfrm>
          <a:prstGeom prst="ellipse">
            <a:avLst/>
          </a:prstGeom>
          <a:solidFill>
            <a:srgbClr val="D8E6F4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— Leader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95360" y="1865376"/>
            <a:ext cx="310896" cy="310896"/>
          </a:xfrm>
          <a:prstGeom prst="ellipse">
            <a:avLst/>
          </a:prstGeom>
          <a:solidFill>
            <a:srgbClr val="D8E6F4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0684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2]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23560" y="2414016"/>
            <a:ext cx="310896" cy="310896"/>
          </a:xfrm>
          <a:prstGeom prst="ellipse">
            <a:avLst/>
          </a:prstGeom>
          <a:solidFill>
            <a:srgbClr val="D8E6F4"/>
          </a:solidFill>
          <a:ln/>
        </p:spPr>
      </p:sp>
      <p:sp>
        <p:nvSpPr>
          <p:cNvPr id="30" name="Text 28"/>
          <p:cNvSpPr/>
          <p:nvPr/>
        </p:nvSpPr>
        <p:spPr>
          <a:xfrm>
            <a:off x="562356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3]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95360" y="2414016"/>
            <a:ext cx="310896" cy="310896"/>
          </a:xfrm>
          <a:prstGeom prst="ellipse">
            <a:avLst/>
          </a:prstGeom>
          <a:solidFill>
            <a:srgbClr val="D8E6F4"/>
          </a:solidFill>
          <a:ln/>
        </p:spPr>
      </p:sp>
      <p:sp>
        <p:nvSpPr>
          <p:cNvPr id="33" name="Text 31"/>
          <p:cNvSpPr/>
          <p:nvPr/>
        </p:nvSpPr>
        <p:spPr>
          <a:xfrm>
            <a:off x="859536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0684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4]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623560" y="2962656"/>
            <a:ext cx="310896" cy="310896"/>
          </a:xfrm>
          <a:prstGeom prst="ellipse">
            <a:avLst/>
          </a:prstGeom>
          <a:solidFill>
            <a:srgbClr val="D8E6F4"/>
          </a:solidFill>
          <a:ln/>
        </p:spPr>
      </p:sp>
      <p:sp>
        <p:nvSpPr>
          <p:cNvPr id="36" name="Text 34"/>
          <p:cNvSpPr/>
          <p:nvPr/>
        </p:nvSpPr>
        <p:spPr>
          <a:xfrm>
            <a:off x="56235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35040" y="2926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5]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595360" y="2962656"/>
            <a:ext cx="310896" cy="310896"/>
          </a:xfrm>
          <a:prstGeom prst="ellipse">
            <a:avLst/>
          </a:prstGeom>
          <a:solidFill>
            <a:srgbClr val="D8E6F4"/>
          </a:solidFill>
          <a:ln/>
        </p:spPr>
      </p:sp>
      <p:sp>
        <p:nvSpPr>
          <p:cNvPr id="39" name="Text 37"/>
          <p:cNvSpPr/>
          <p:nvPr/>
        </p:nvSpPr>
        <p:spPr>
          <a:xfrm>
            <a:off x="8595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06840" y="2926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6]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349240" y="3749040"/>
            <a:ext cx="62636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2356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26480" y="4434840"/>
            <a:ext cx="310896" cy="310896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44" name="Shape 42"/>
          <p:cNvSpPr/>
          <p:nvPr/>
        </p:nvSpPr>
        <p:spPr>
          <a:xfrm>
            <a:off x="6437376" y="4590288"/>
            <a:ext cx="1170432" cy="0"/>
          </a:xfrm>
          <a:prstGeom prst="line">
            <a:avLst/>
          </a:prstGeom>
          <a:noFill/>
          <a:ln w="19050">
            <a:solidFill>
              <a:srgbClr val="C4CDD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486400" y="4828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510235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actions taken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07808" y="4434840"/>
            <a:ext cx="310896" cy="310896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48" name="Shape 46"/>
          <p:cNvSpPr/>
          <p:nvPr/>
        </p:nvSpPr>
        <p:spPr>
          <a:xfrm>
            <a:off x="7918704" y="4590288"/>
            <a:ext cx="1170432" cy="0"/>
          </a:xfrm>
          <a:prstGeom prst="line">
            <a:avLst/>
          </a:prstGeom>
          <a:noFill/>
          <a:ln w="19050">
            <a:solidFill>
              <a:srgbClr val="C4CDD8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6967728" y="4828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Mid-June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22008" y="510235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SOP started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89136" y="4434840"/>
            <a:ext cx="310896" cy="310896"/>
          </a:xfrm>
          <a:prstGeom prst="ellipse">
            <a:avLst/>
          </a:prstGeom>
          <a:solidFill>
            <a:srgbClr val="3F8F5B"/>
          </a:solidFill>
          <a:ln/>
        </p:spPr>
      </p:sp>
      <p:sp>
        <p:nvSpPr>
          <p:cNvPr id="52" name="Shape 50"/>
          <p:cNvSpPr/>
          <p:nvPr/>
        </p:nvSpPr>
        <p:spPr>
          <a:xfrm>
            <a:off x="9400032" y="4590288"/>
            <a:ext cx="1170432" cy="0"/>
          </a:xfrm>
          <a:prstGeom prst="line">
            <a:avLst/>
          </a:prstGeom>
          <a:noFill/>
          <a:ln w="19050">
            <a:solidFill>
              <a:srgbClr val="C4CDD8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8449056" y="4828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SOP+2 wk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403336" y="510235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stabilised to single digit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570464" y="4434840"/>
            <a:ext cx="310896" cy="31089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Text 54"/>
          <p:cNvSpPr/>
          <p:nvPr/>
        </p:nvSpPr>
        <p:spPr>
          <a:xfrm>
            <a:off x="9930384" y="4828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884664" y="510235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&amp; horizontal deployment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QC Story — Our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followed the standard QC Story problem-solving sequence and applied all seven QC tools along the way.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15263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Selection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78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783080"/>
            <a:ext cx="640080" cy="640080"/>
          </a:xfrm>
          <a:prstGeom prst="ellipse">
            <a:avLst/>
          </a:prstGeom>
          <a:solidFill>
            <a:srgbClr val="15263F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70832" y="181051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Situation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66744" y="2578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the facts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01384" y="1783080"/>
            <a:ext cx="640080" cy="640080"/>
          </a:xfrm>
          <a:prstGeom prst="ellipse">
            <a:avLst/>
          </a:prstGeom>
          <a:solidFill>
            <a:srgbClr val="15263F"/>
          </a:solidFill>
          <a:ln/>
        </p:spPr>
      </p:sp>
      <p:sp>
        <p:nvSpPr>
          <p:cNvPr id="16" name="Text 14"/>
          <p:cNvSpPr/>
          <p:nvPr/>
        </p:nvSpPr>
        <p:spPr>
          <a:xfrm>
            <a:off x="6501384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32904" y="181051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Setting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28816" y="2578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63456" y="1783080"/>
            <a:ext cx="640080" cy="640080"/>
          </a:xfrm>
          <a:prstGeom prst="ellipse">
            <a:avLst/>
          </a:prstGeom>
          <a:solidFill>
            <a:srgbClr val="15263F"/>
          </a:solidFill>
          <a:ln/>
        </p:spPr>
      </p:sp>
      <p:sp>
        <p:nvSpPr>
          <p:cNvPr id="21" name="Text 19"/>
          <p:cNvSpPr/>
          <p:nvPr/>
        </p:nvSpPr>
        <p:spPr>
          <a:xfrm>
            <a:off x="9363456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094976" y="181051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90888" y="2578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root causes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886200"/>
            <a:ext cx="640080" cy="640080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508760" y="3913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Countermeasures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4672" y="4681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at source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10712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39312" y="3886200"/>
            <a:ext cx="640080" cy="640080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31" name="Text 29"/>
          <p:cNvSpPr/>
          <p:nvPr/>
        </p:nvSpPr>
        <p:spPr>
          <a:xfrm>
            <a:off x="3639312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370832" y="3913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66744" y="4681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effect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72784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01384" y="3886200"/>
            <a:ext cx="640080" cy="640080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232904" y="3913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Standardisation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528816" y="4681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gain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34856" y="36576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63456" y="3886200"/>
            <a:ext cx="640080" cy="640080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41" name="Text 39"/>
          <p:cNvSpPr/>
          <p:nvPr/>
        </p:nvSpPr>
        <p:spPr>
          <a:xfrm>
            <a:off x="9363456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0094976" y="3913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390888" y="4681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plan next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526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2296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QC TOOLS USED: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Sheet  •  Pareto  •  Cause &amp; Effect  •  Histogram  •  Scatter  •  Graph / Control Chart  •  Stratification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Paint Shop Process — Where Quality Is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Chart: the body travels through Pre-treatment/ED → Sealer → Top Coat before Inspection. Dust &amp; seed defects are caught at Inspection but originate across ED and Top Coat.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526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ED &amp; PRE-TREATMENT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Degreasing &amp; hot-water rinse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conditioning + Phosphate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rinses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coat (1st layer)  →  ED bake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50792" y="2930652"/>
            <a:ext cx="274320" cy="402336"/>
          </a:xfrm>
          <a:prstGeom prst="rightArrow">
            <a:avLst/>
          </a:prstGeom>
          <a:solidFill>
            <a:srgbClr val="3E6FA3"/>
          </a:solidFill>
          <a:ln/>
        </p:spPr>
      </p:sp>
      <p:sp>
        <p:nvSpPr>
          <p:cNvPr id="9" name="Shape 7"/>
          <p:cNvSpPr/>
          <p:nvPr/>
        </p:nvSpPr>
        <p:spPr>
          <a:xfrm>
            <a:off x="4325112" y="169164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69164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3E6FA3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6916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SEALER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2404872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sealer application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Under-body / joint sealing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Sealer bake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27264" y="2930652"/>
            <a:ext cx="274320" cy="402336"/>
          </a:xfrm>
          <a:prstGeom prst="rightArrow">
            <a:avLst/>
          </a:prstGeom>
          <a:solidFill>
            <a:srgbClr val="3E6FA3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1584" y="169164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169164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D99A16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16916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TOP COAT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0184" y="2404872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Preparation: wiping + air blow (tack-off)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application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coat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coat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3DED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5303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check every body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5513832"/>
            <a:ext cx="274320" cy="292608"/>
          </a:xfrm>
          <a:prstGeom prst="rightArrow">
            <a:avLst/>
          </a:prstGeom>
          <a:solidFill>
            <a:srgbClr val="3E6FA3"/>
          </a:solidFill>
          <a:ln/>
        </p:spPr>
      </p:sp>
      <p:sp>
        <p:nvSpPr>
          <p:cNvPr id="23" name="Shape 21"/>
          <p:cNvSpPr/>
          <p:nvPr/>
        </p:nvSpPr>
        <p:spPr>
          <a:xfrm>
            <a:off x="3611880" y="52120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94760" y="5303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Rectify defects found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73368" y="5513832"/>
            <a:ext cx="274320" cy="292608"/>
          </a:xfrm>
          <a:prstGeom prst="rightArrow">
            <a:avLst/>
          </a:prstGeom>
          <a:solidFill>
            <a:srgbClr val="3E6FA3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52120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5303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to trim 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829800" y="5212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6E7C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921240" y="5257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repair = lost First Time Quality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D99A16"/>
          </a:solidFill>
          <a:ln/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</a:t>
            </a:r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Selection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7607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SELECTED THIS THEME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256032" cy="256032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impact  </a:t>
            </a:r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Paint appearance is the first thing a customer sees — dust &amp; seed directly hurt perceived quality.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788920"/>
            <a:ext cx="256032" cy="256032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Quality  </a:t>
            </a:r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defect forces rework, pulling down First Time Quality (FTQ) and line throughput.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611880"/>
            <a:ext cx="256032" cy="256032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poor quality  </a:t>
            </a:r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Repair consumes man-hours, sanding/polishing material and paint — pure waste.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434840"/>
            <a:ext cx="256032" cy="256032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389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line, high stakes  </a:t>
            </a:r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Other plants saw 60–70 dust defects/body at SOP; a shaky start is hard to recover.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5257800"/>
            <a:ext cx="256032" cy="256032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257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goals  </a:t>
            </a:r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Directly supports the plant's quality, cost and delivery objectives.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13258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526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208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17556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paint appearance by enhancing First Time Quality through dust &amp; seed reduction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492240" y="28803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6E7C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2990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world-class paint finish — Right First Time, every body, every time.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395935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D8E6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2084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43251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paint defects at source through teamwork, data and the QC approach to reach best-in-class FTQ.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5038344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DDEE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20840" y="5148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540410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“Right First Time — the Shine that Defines.”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D99A16"/>
          </a:solidFill>
          <a:ln/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</a:t>
            </a:r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Situation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collected defect data body-by-body (Check Sheet), then used a Pareto Diagram and Stratification to find the vital few.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— Paint Defects by Type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&amp; Seed alone = 48% of all defects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331720"/>
          <a:ext cx="6492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498080" y="160020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809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SHEET (extract)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057400"/>
          <a:ext cx="3749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58952"/>
                <a:gridCol w="758952"/>
                <a:gridCol w="76809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A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 / 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498080" y="388620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6E7C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68096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— key findings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680960" y="4315968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Coat contributes the most dust &amp; seed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 higher — links to environment/housekeeping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body (roof, hood) worse than lower body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D99A16"/>
          </a:solidFill>
          <a:ln/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</a:t>
            </a:r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Setting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9377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Dust &amp; Seed defects per body (DPB) to single digit from the first day of SOP.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28800" y="2926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&amp; Seed defects / body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5295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828800" y="35295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 (other plants at SOP)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133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28800" y="4133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10, stretch ≤ 6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7365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28800" y="47365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 weeks of SOP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34009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828800" y="53400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actions at source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0" y="1417320"/>
            <a:ext cx="59436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97880" y="1572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 →  TARGET  →  ACHIEVED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9788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&amp; Seed defects per body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806440" y="224028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D99A16"/>
          </a:solidFill>
          <a:ln/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</a:t>
            </a:r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— Cause &amp; Effect (Fishbone)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104120" y="3108960"/>
            <a:ext cx="1874520" cy="1005840"/>
          </a:xfrm>
          <a:prstGeom prst="roundRect">
            <a:avLst>
              <a:gd name="adj" fmla="val 5455"/>
            </a:avLst>
          </a:prstGeom>
          <a:solidFill>
            <a:srgbClr val="C0503F"/>
          </a:solidFill>
          <a:ln/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04120" y="31089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Dust &amp; Seed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9400032" cy="0"/>
          </a:xfrm>
          <a:prstGeom prst="line">
            <a:avLst/>
          </a:prstGeom>
          <a:noFill/>
          <a:ln w="38100">
            <a:solidFill>
              <a:srgbClr val="1526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2560320"/>
            <a:ext cx="1188720" cy="1051560"/>
          </a:xfrm>
          <a:prstGeom prst="line">
            <a:avLst/>
          </a:prstGeom>
          <a:noFill/>
          <a:ln w="25400">
            <a:solidFill>
              <a:srgbClr val="3E6F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380" y="215798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5263F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" y="21579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Wiping / painting technique</a:t>
            </a:r>
            <a:endParaRPr lang="en-US" sz="950" dirty="0"/>
          </a:p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discipline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06240" y="2560320"/>
            <a:ext cx="1188720" cy="1051560"/>
          </a:xfrm>
          <a:prstGeom prst="line">
            <a:avLst/>
          </a:prstGeom>
          <a:noFill/>
          <a:ln w="25400">
            <a:solidFill>
              <a:srgbClr val="3E6F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215798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5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3314700" y="21579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0" y="118872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 rod fouling in tanks</a:t>
            </a:r>
            <a:endParaRPr lang="en-US" sz="950" dirty="0"/>
          </a:p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filter loading</a:t>
            </a:r>
            <a:endParaRPr lang="en-US" sz="950" dirty="0"/>
          </a:p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/ phosphate sludge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66560" y="2560320"/>
            <a:ext cx="1188720" cy="1051560"/>
          </a:xfrm>
          <a:prstGeom prst="line">
            <a:avLst/>
          </a:prstGeom>
          <a:noFill/>
          <a:ln w="25400">
            <a:solidFill>
              <a:srgbClr val="3E6F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5020" y="2157984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5263F"/>
          </a:solidFill>
          <a:ln/>
        </p:spPr>
      </p:sp>
      <p:sp>
        <p:nvSpPr>
          <p:cNvPr id="18" name="Text 16"/>
          <p:cNvSpPr/>
          <p:nvPr/>
        </p:nvSpPr>
        <p:spPr>
          <a:xfrm>
            <a:off x="5875020" y="21579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118872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paint NV variation</a:t>
            </a:r>
            <a:endParaRPr lang="en-US" sz="950" dirty="0"/>
          </a:p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Contaminated rinse water</a:t>
            </a:r>
            <a:endParaRPr lang="en-US" sz="950" dirty="0"/>
          </a:p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Lint-shedding consumables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flipV="1">
            <a:off x="1645920" y="3611880"/>
            <a:ext cx="1188720" cy="1051560"/>
          </a:xfrm>
          <a:prstGeom prst="line">
            <a:avLst/>
          </a:prstGeom>
          <a:noFill/>
          <a:ln w="25400">
            <a:solidFill>
              <a:srgbClr val="3E6F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" y="468172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5263F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" y="46817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tack-off (wipe + air blow)</a:t>
            </a:r>
            <a:endParaRPr lang="en-US" sz="950" dirty="0"/>
          </a:p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 sequence drops dust</a:t>
            </a:r>
            <a:endParaRPr lang="en-US" sz="950" dirty="0"/>
          </a:p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Rinse cycle not optimised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flipV="1">
            <a:off x="4206240" y="3611880"/>
            <a:ext cx="1188720" cy="1051560"/>
          </a:xfrm>
          <a:prstGeom prst="line">
            <a:avLst/>
          </a:prstGeom>
          <a:noFill/>
          <a:ln w="25400">
            <a:solidFill>
              <a:srgbClr val="3E6F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468172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5263F"/>
          </a:solidFill>
          <a:ln/>
        </p:spPr>
      </p:sp>
      <p:sp>
        <p:nvSpPr>
          <p:cNvPr id="26" name="Text 24"/>
          <p:cNvSpPr/>
          <p:nvPr/>
        </p:nvSpPr>
        <p:spPr>
          <a:xfrm>
            <a:off x="3314700" y="46817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1752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Airborne dust from storage</a:t>
            </a:r>
            <a:endParaRPr lang="en-US" sz="950" dirty="0"/>
          </a:p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joints / gaps in line</a:t>
            </a:r>
            <a:endParaRPr lang="en-US" sz="950" dirty="0"/>
          </a:p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settling on body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V="1">
            <a:off x="6766560" y="3611880"/>
            <a:ext cx="1188720" cy="1051560"/>
          </a:xfrm>
          <a:prstGeom prst="line">
            <a:avLst/>
          </a:prstGeom>
          <a:noFill/>
          <a:ln w="25400">
            <a:solidFill>
              <a:srgbClr val="3E6F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75020" y="468172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15263F"/>
          </a:solidFill>
          <a:ln/>
        </p:spPr>
      </p:sp>
      <p:sp>
        <p:nvSpPr>
          <p:cNvPr id="30" name="Text 28"/>
          <p:cNvSpPr/>
          <p:nvPr/>
        </p:nvSpPr>
        <p:spPr>
          <a:xfrm>
            <a:off x="5875020" y="46817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77840" y="5120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114300" indent="-114300">
              <a:spcAft>
                <a:spcPts val="300"/>
              </a:spcAft>
              <a:buSzPct val="100000"/>
              <a:buChar char="–"/>
            </a:pPr>
            <a:r>
              <a:rPr lang="en-US" sz="9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 bath-parameter checks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D99A16"/>
          </a:solidFill>
          <a:ln/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</a:t>
            </a:r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— Root Causes Confirmed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Why-Why analysis and data (Scatter Diagram + Histogram) confirmed the vital root causes.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ROOT CAUSES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121408"/>
            <a:ext cx="292608" cy="292608"/>
          </a:xfrm>
          <a:prstGeom prst="ellipse">
            <a:avLst/>
          </a:prstGeom>
          <a:solidFill>
            <a:srgbClr val="C050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Airborne dust from uncovered storage &amp; open line joints settling on wet paint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081528"/>
            <a:ext cx="292608" cy="292608"/>
          </a:xfrm>
          <a:prstGeom prst="ellipse">
            <a:avLst/>
          </a:prstGeom>
          <a:solidFill>
            <a:srgbClr val="C0503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0632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fines / sludge in ED &amp; phosphate tanks (magnet rods &amp; filters not cleaned often enough)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041648"/>
            <a:ext cx="292608" cy="292608"/>
          </a:xfrm>
          <a:prstGeom prst="ellipse">
            <a:avLst/>
          </a:prstGeom>
          <a:solidFill>
            <a:srgbClr val="C0503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bath NV drift causing ED drops / runs and extra repair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001768"/>
            <a:ext cx="292608" cy="292608"/>
          </a:xfrm>
          <a:prstGeom prst="ellipse">
            <a:avLst/>
          </a:prstGeom>
          <a:solidFill>
            <a:srgbClr val="C050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01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9834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Lint-shedding wipes and non-standard painting sequence adding fibre &amp; dust in Top Coat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160020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1975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Airborne dust vs seed defects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892040" y="2286000"/>
          <a:ext cx="32004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4937760" y="5852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→ control dust, control defects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275320" y="160020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45820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58200" y="1975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Defects/body distribution (early SOP)</a:t>
            </a:r>
            <a:endParaRPr lang="en-US" sz="10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8366760" y="2286000"/>
          <a:ext cx="32004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 25"/>
          <p:cNvSpPr/>
          <p:nvPr/>
        </p:nvSpPr>
        <p:spPr>
          <a:xfrm>
            <a:off x="8412480" y="5852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was wide &amp; shifted high → unstable process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D99A16"/>
          </a:solidFill>
          <a:ln/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</a:t>
            </a:r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Countermeasures — Three Major Actions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D99A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CM-1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Dust Control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dust before it reaches the body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4290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covered with green net + aluminium foil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joints &amp; gaps taped/sealed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discipline raised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146304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1463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3E6FA3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CM-2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9432" y="1874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 &amp; Pre-treatment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E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baths = clean surface, fewer ED drops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26864" y="34290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Magnet-rod cleaning frequency ↑ in sub-tanks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filter cleaning ↑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Phosphate sludge reduced, ED bath NV controlled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3024" y="146304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93024" y="1463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3F8F5B"/>
          </a:solidFill>
          <a:ln/>
        </p:spPr>
      </p:sp>
      <p:sp>
        <p:nvSpPr>
          <p:cNvPr id="19" name="Text 17"/>
          <p:cNvSpPr/>
          <p:nvPr/>
        </p:nvSpPr>
        <p:spPr>
          <a:xfrm>
            <a:off x="8421624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CM-3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21624" y="1874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Coat Consumables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Operator Method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21624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Zero-lint materials + right sequence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49056" y="34290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consumables changed to lint-free / tack cloth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 &amp; tack-off sequence standardised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(wipe + air blow) reinforced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Countermeasure 1 — Environmental Dust Control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D99A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CM-1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74520" y="10058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airborne dust from storage &amp; open joints settling on wet paint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rgbClr val="F6E7C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9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Covered material storage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103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stored parts / racks covered with green net and aluminium foil to trap and block settling dust.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127248"/>
            <a:ext cx="502920" cy="502920"/>
          </a:xfrm>
          <a:prstGeom prst="ellipse">
            <a:avLst/>
          </a:prstGeom>
          <a:solidFill>
            <a:srgbClr val="F6E7C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9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2971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Sealed joints &amp; gaps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3375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Tapes applied at line joints, panel gaps and openings so environmental dust cannot fall onto the body.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361688"/>
            <a:ext cx="502920" cy="502920"/>
          </a:xfrm>
          <a:prstGeom prst="ellipse">
            <a:avLst/>
          </a:prstGeom>
          <a:solidFill>
            <a:srgbClr val="F6E7C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9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206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Housekeeping &amp; discipline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572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Tightened cleaning routine and entry discipline in the paint area, especially on the weaker shift.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43800" y="1600200"/>
            <a:ext cx="4069080" cy="3657600"/>
          </a:xfrm>
          <a:prstGeom prst="roundRect">
            <a:avLst>
              <a:gd name="adj" fmla="val 2000"/>
            </a:avLst>
          </a:prstGeom>
          <a:solidFill>
            <a:srgbClr val="1526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21488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single biggest source of seed on the paint surface — dust never reaches the wet film.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DEFECTS ADDRESSED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63840" y="35204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dust inclusions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on clear coat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surface dirt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Countermeasure 2 — ED &amp; Pre-treatment Quality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3E6F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CM-2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74520" y="10058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metal fines / sludge in baths and ED bath NV drift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55648"/>
            <a:ext cx="420624" cy="420624"/>
          </a:xfrm>
          <a:prstGeom prst="ellipse">
            <a:avLst/>
          </a:prstGeom>
          <a:solidFill>
            <a:srgbClr val="D8E6F4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64592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Magnet-rod cleaning 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956816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cleaning frequency of magnet rods in the sub-tanks to pull out metal fines before 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688336"/>
            <a:ext cx="420624" cy="420624"/>
          </a:xfrm>
          <a:prstGeom prst="ellipse">
            <a:avLst/>
          </a:prstGeom>
          <a:solidFill>
            <a:srgbClr val="D8E6F4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257860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Magnetic filter cleaning 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889504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 up magnetic filter cleaning so trapped particles don't recirculate into the bath.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19856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621024"/>
            <a:ext cx="420624" cy="420624"/>
          </a:xfrm>
          <a:prstGeom prst="ellipse">
            <a:avLst/>
          </a:prstGeom>
          <a:solidFill>
            <a:srgbClr val="D8E6F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351129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Phosphate sludge reduced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82219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to cut phosphate sludge generation &amp; carry-over across rinses (hot water, surface conditioning, water rinses).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52544"/>
            <a:ext cx="6766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553712"/>
            <a:ext cx="420624" cy="420624"/>
          </a:xfrm>
          <a:prstGeom prst="ellipse">
            <a:avLst/>
          </a:prstGeom>
          <a:solidFill>
            <a:srgbClr val="D8E6F4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25880" y="444398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 bath NV controlled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475488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ED paint NV (non-volatile) in band to stabilise film and cut ED drops / runs — reducing avoidable repair.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1554480"/>
            <a:ext cx="4069080" cy="3730752"/>
          </a:xfrm>
          <a:prstGeom prst="roundRect">
            <a:avLst>
              <a:gd name="adj" fmla="val 1961"/>
            </a:avLst>
          </a:prstGeom>
          <a:solidFill>
            <a:srgbClr val="1526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21031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cleaner, more stable ED foundation means fewer defects carried into Top Coat and fewer ED drops.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63840" y="34747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ED film level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ED drops → less repair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defect carry-over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Countermeasure 3 — Top Coat Consumables &amp; Method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3F8F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CM-3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74520" y="10058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lint-shedding consumables &amp; non-standard painting sequence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rgbClr val="DDEEE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7190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Lint-free consumables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084832"/>
            <a:ext cx="571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consumables (wiping cloths / gloves / tack rags) changed to lint-free, low-shed materials so no fibre transfers to the body.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127248"/>
            <a:ext cx="502920" cy="502920"/>
          </a:xfrm>
          <a:prstGeom prst="ellipse">
            <a:avLst/>
          </a:prstGeom>
          <a:solidFill>
            <a:srgbClr val="DDEEE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2953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Standardised painting sequence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319272"/>
            <a:ext cx="571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painting motion &amp; gun sequence revised so movement does not disturb or drop dust onto freshly painted panels.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361688"/>
            <a:ext cx="502920" cy="502920"/>
          </a:xfrm>
          <a:prstGeom prst="ellipse">
            <a:avLst/>
          </a:prstGeom>
          <a:solidFill>
            <a:srgbClr val="DDEEE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1879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Reinforced preparation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553712"/>
            <a:ext cx="5715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Wiping + air-blow tack-off before paint strengthened to remove loose particles at the last moment.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43800" y="1600200"/>
            <a:ext cx="4069080" cy="3657600"/>
          </a:xfrm>
          <a:prstGeom prst="roundRect">
            <a:avLst>
              <a:gd name="adj" fmla="val 2000"/>
            </a:avLst>
          </a:prstGeom>
          <a:solidFill>
            <a:srgbClr val="1526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21488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line of defence: clean materials and clean movement keep the finished surface defect-free.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DEFECTS ADDRESSED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63840" y="35204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/ lint marks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in base &amp; clear coat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Handling-induced dirt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D99A16"/>
          </a:solidFill>
          <a:ln/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</a:t>
            </a:r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Confirming the Effect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1526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&amp; SEED / BODY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60–70 at other plants' SOP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DDEE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950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 BETTER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the SOP benchmark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7548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FTQ improved at SOP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bodies to repair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drops reduced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463040"/>
            <a:ext cx="3977640" cy="461772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886200" y="1965960"/>
          <a:ext cx="37033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7909560" y="1463040"/>
            <a:ext cx="3703320" cy="46177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924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 TREND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9244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Control Chart — DPB by week</a:t>
            </a:r>
            <a:endParaRPr lang="en-US" sz="10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8001000" y="2240280"/>
          <a:ext cx="3520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QC Tools — How We Used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600200"/>
            <a:ext cx="822960" cy="822960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Sheet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9842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defects body-by-body by area &amp; shift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325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600200"/>
            <a:ext cx="822960" cy="822960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513832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Pareto Diagram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13832" y="19842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defect types — Dust &amp; Seed = the vital few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1325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94192" y="160020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36024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&amp; Effect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36024" y="19842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 fishbone to find root causes of dust &amp; seed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5351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227832"/>
            <a:ext cx="822960" cy="822960"/>
          </a:xfrm>
          <a:prstGeom prst="ellipse">
            <a:avLst/>
          </a:prstGeom>
          <a:solidFill>
            <a:srgbClr val="3F8F5B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227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691640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defects/body spread was wide &amp; unstable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0832" y="295351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227832"/>
            <a:ext cx="822960" cy="822960"/>
          </a:xfrm>
          <a:prstGeom prst="ellipse">
            <a:avLst/>
          </a:prstGeom>
          <a:solidFill>
            <a:srgbClr val="3E6FA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227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513832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Diagram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13832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dust count drives seed defects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93024" y="2953512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94192" y="3227832"/>
            <a:ext cx="822960" cy="822960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30" name="Text 28"/>
          <p:cNvSpPr/>
          <p:nvPr/>
        </p:nvSpPr>
        <p:spPr>
          <a:xfrm>
            <a:off x="8394192" y="3227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336024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/ Control Chart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36024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weekly DPB &amp; benchmark comparison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581144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9808" y="4855464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48554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1691640" y="48097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Stratification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691640" y="523951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by area, shift &amp; body zone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70832" y="4581144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526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99432" y="48371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7 tools, one story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99432" y="52395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from problem to proof — the backbone of our QC Story.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D99A16"/>
          </a:solidFill>
          <a:ln/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</a:t>
            </a:r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Standardisation — Holding the Gain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effective countermeasure was locked into the system so the improvement sticks and can be copied.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5623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8E6F4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1783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 / Work Instructions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645920" y="216712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 &amp; tack-off sequence, wiping and prep steps documented and trained to all operators.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85623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8E6F4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42632" y="1783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Preventive Maintenance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42632" y="216712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Magnet-rod &amp; magnetic-filter cleaning frequency added to the PM checklist with defined intervals.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90672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346704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8E6F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3467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45920" y="3273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Bath Control Plan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645920" y="36576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NV, phosphate &amp; rinse parameters put on a monitoring/reaction plan with clear limits.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45352" y="3090672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3346704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8E6F4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3467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42632" y="3273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Standard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42632" y="36576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covering (net/foil) and joint sealing made a daily housekeeping standard &amp; audit point.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581144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837176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8E6F4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8371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645920" y="476402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Consumable Specification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645920" y="514807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lint-free consumables allowed; specified in the purchase/issue standard.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45352" y="4581144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4837176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8E6F4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48371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342632" y="476402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 Deployment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342632" y="514807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shared with other lines/plants to prevent the 60–70 SOP problem elsewhere.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D99A16"/>
          </a:solidFill>
          <a:ln/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 </a:t>
            </a:r>
            <a:pPr algn="l" indent="0" marL="0">
              <a:buNone/>
            </a:pPr>
            <a:r>
              <a:rPr lang="en-US" sz="2600" b="1" dirty="0">
                <a:solidFill>
                  <a:srgbClr val="15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&amp; Future Plans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084832"/>
            <a:ext cx="274320" cy="274320"/>
          </a:xfrm>
          <a:prstGeom prst="ellipse">
            <a:avLst/>
          </a:prstGeom>
          <a:solidFill>
            <a:srgbClr val="3F8F5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defects before SOP beats chasing them after — proactive wins.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2862072"/>
            <a:ext cx="274320" cy="274320"/>
          </a:xfrm>
          <a:prstGeom prst="ellipse">
            <a:avLst/>
          </a:prstGeom>
          <a:solidFill>
            <a:srgbClr val="3F8F5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8346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control is as critical as paint parameters for appearance.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639312"/>
            <a:ext cx="274320" cy="274320"/>
          </a:xfrm>
          <a:prstGeom prst="ellipse">
            <a:avLst/>
          </a:prstGeom>
          <a:solidFill>
            <a:srgbClr val="3F8F5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6118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maintenance-frequency changes gave large, low-cost gains.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416552"/>
            <a:ext cx="274320" cy="274320"/>
          </a:xfrm>
          <a:prstGeom prst="ellipse">
            <a:avLst/>
          </a:prstGeom>
          <a:solidFill>
            <a:srgbClr val="3F8F5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3891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the 7 QC tools turned opinions into confirmed root causes.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5193792"/>
            <a:ext cx="274320" cy="274320"/>
          </a:xfrm>
          <a:prstGeom prst="ellipse">
            <a:avLst/>
          </a:prstGeom>
          <a:solidFill>
            <a:srgbClr val="3F8F5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93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51663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across all shifts sustained the result.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146304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15263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A96A3">
                <a:alpha val="3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1627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TARGETS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9A16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2084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DPB below 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24505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dust &amp; seed even lower and tighten the distribution.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46520" y="3063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9A16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86600" y="3044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Tackle next defect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34107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QC Story to the next Pareto item (dirt/fibre, crater).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46520" y="4023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9A16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86600" y="4005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 &amp; audit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86600" y="43708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audits to keep environment &amp; bath standards in place.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46520" y="4983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9A16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86600" y="4965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horizontally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086600" y="53309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standards to all lines and future SOPs.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Quality Circle  |  QC Story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ln w="25400">
            <a:solidFill>
              <a:srgbClr val="3E6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ln w="25400">
            <a:solidFill>
              <a:srgbClr val="D99A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48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9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“Right First Time — the Shine that Defines.”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60–70 to single-digit dust &amp; seed defects per body — First Time Quality, built in at source.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PERFECTORS  •  Paint Shop Quality Circle  •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Paint Shop QC Circle</dc:title>
  <dc:subject>PptxGenJS Presentation</dc:subject>
  <dc:creator>Paint Shop Quality Circle</dc:creator>
  <cp:lastModifiedBy>Paint Shop Quality Circle</cp:lastModifiedBy>
  <cp:revision>1</cp:revision>
  <dcterms:created xsi:type="dcterms:W3CDTF">2026-07-29T16:23:48Z</dcterms:created>
  <dcterms:modified xsi:type="dcterms:W3CDTF">2026-07-29T16:23:48Z</dcterms:modified>
</cp:coreProperties>
</file>